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Roboto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7">
          <p15:clr>
            <a:srgbClr val="747775"/>
          </p15:clr>
        </p15:guide>
        <p15:guide id="2" pos="5556">
          <p15:clr>
            <a:srgbClr val="747775"/>
          </p15:clr>
        </p15:guide>
        <p15:guide id="3" orient="horz" pos="3005">
          <p15:clr>
            <a:srgbClr val="747775"/>
          </p15:clr>
        </p15:guide>
        <p15:guide id="4" orient="horz" pos="4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B85ECA-C447-4116-8699-0A9E1A2E7559}">
  <a:tblStyle styleId="{F0B85ECA-C447-4116-8699-0A9E1A2E75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/>
        <p:guide pos="5556"/>
        <p:guide pos="3005" orient="horz"/>
        <p:guide pos="4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Light-italic.fntdata"/><Relationship Id="rId30" Type="http://schemas.openxmlformats.org/officeDocument/2006/relationships/font" Target="fonts/Roboto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bf453f1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bf453f1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0dac29e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e0dac29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e0dac29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e0dac29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cf765e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cf765e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bed737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bed737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fbed7371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fbed7371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006414b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006414b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bed737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fbed737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06414b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006414b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08ff291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08ff291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06414b2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06414b2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c91d3b6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0c91d3b6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006414b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006414b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08ff291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08ff291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cd867fe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1cd867fe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08ff2915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08ff2915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df06be40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df06be40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gviel/jedha-project-08-atnt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viel-mlflow37.hf.space/#/" TargetMode="External"/><Relationship Id="rId4" Type="http://schemas.openxmlformats.org/officeDocument/2006/relationships/hyperlink" Target="https://getaround-api-hmuc.onrender.com/docs/" TargetMode="External"/><Relationship Id="rId5" Type="http://schemas.openxmlformats.org/officeDocument/2006/relationships/hyperlink" Target="https://getaround-dashboard.onrender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0000" y="1372003"/>
            <a:ext cx="846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Bloc 5 : Industrialisation d'un algorithme d'apprentissage automatique et automatisation des processus de décision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</a:t>
            </a: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291625" y="3105240"/>
            <a:ext cx="8528400" cy="573000"/>
          </a:xfrm>
          <a:prstGeom prst="rect">
            <a:avLst/>
          </a:prstGeom>
          <a:solidFill>
            <a:srgbClr val="FFFFFF">
              <a:alpha val="203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</a:rPr>
              <a:t>Get Around : deployment project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487275" y="4019875"/>
            <a:ext cx="154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hlinkClick r:id="rId4"/>
              </a:rPr>
              <a:t>Dépôt Github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4325" y="3726900"/>
            <a:ext cx="2503469" cy="9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Contexte et besoins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57825" y="757626"/>
            <a:ext cx="85800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Getaround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est une plateforme de location de voitures entre particuliers (plus de 5 millions d'utilisateurs et 20 000 véhicules en 2019)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Chaque location nécessite un check-in et un check-out pour vérifier l'état du véhicule, le carburant et le kilométrage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Problème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retours au checkout génèrent des frictions pour les conducteurs suivants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impactent les locations suivantes (annulations) et le CA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Objectifs et périmètre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6350" y="774525"/>
            <a:ext cx="85113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Objectif principal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Getaround souhaite réduire les frictions opérationnelles tout en préservant les revenus des propriétaires et de la plateforme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Questions : 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quel délai minimum imposer entre 2 locations et à quel coût?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comment évaluer au mieux le prix de location d’un véhicule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Périmètre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Phase 1 : M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ieux définir le prix d’une location pour un véhicule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Phase 2 :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Définition du seuil minimal de délai entre 2 réservations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Délai applicable à tous les véhicules en check-in de type “Mobile”, ou uniquement les véhicules “GetAround Connect”?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Analyser l'impact du délai sur le CA et le nombre de locations problématiques concernées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 4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1 : Pricing des locations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Modèle de ML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 4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EDA sur le Dataset Pricing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16350" y="896650"/>
            <a:ext cx="8511300" cy="3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Chiffres clé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4383 véhicules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pas de valeurs null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lignes à exclure (mileage&lt;0 et une avec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engine_power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=0)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Numériques: mileage, engine_power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Catégorielles :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model_key : 28 marques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fuel : 4 types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car_type : 8 catégories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paint_color : 10 couleurs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Booléennes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GPS, clim, boite auto, GetAround connect, régulateur, pneu hiver, parking privé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EDA : observations et analyses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16350" y="874650"/>
            <a:ext cx="85113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Corrélations des variables avec le prix de location par jour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forte : engine_power (pearson ~+0.6)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assez forte : mileage,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automatic_car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(pearson ~+/-0.4)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modérée :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has_getaround_connect, has_gps (pt-bis. ~+0.3)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model_key : modérée (eta2 ~+0.3)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faible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winter_tires : faible +0.02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paint_color : faible +0.01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fuel : faible +0.01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Pour le modèle on pourra tester en enlevant les features à faible impact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Entrainement modèles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16350" y="736947"/>
            <a:ext cx="8511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Entraînement</a:t>
            </a: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 plusieurs modèles et plusieurs variantes 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19"/>
          <p:cNvGraphicFramePr/>
          <p:nvPr/>
        </p:nvGraphicFramePr>
        <p:xfrm>
          <a:off x="538875" y="122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{F0B85ECA-C447-4116-8699-0A9E1A2E7559}</a:tableStyleId>
              </a:tblPr>
              <a:tblGrid>
                <a:gridCol w="2386250"/>
                <a:gridCol w="1686975"/>
                <a:gridCol w="1363600"/>
                <a:gridCol w="1280900"/>
                <a:gridCol w="1341025"/>
              </a:tblGrid>
              <a:tr h="3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Modèle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Dataset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R2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MAE (€/j)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RMSE </a:t>
                      </a: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(€/j)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4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XGBoost + GridSearchCV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4841 (full)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0.7646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10.39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16.05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7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LR baseline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4841 (full)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0.7060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12.11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17.94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4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LR sans paint/fuel/winter_tires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4841 (full)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0.6820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12.48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18.65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Ridge + règle 3σ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sans outliers (4749)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0.6317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12.77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19.06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Lasso</a:t>
                      </a:r>
                      <a:r>
                        <a:rPr lang="fr" sz="1200">
                          <a:solidFill>
                            <a:schemeClr val="dk1"/>
                          </a:solidFill>
                        </a:rPr>
                        <a:t> + règle 3σ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sans outliers (4749)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0.6277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12.80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19.17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LR +</a:t>
                      </a:r>
                      <a:r>
                        <a:rPr lang="fr" sz="1200">
                          <a:solidFill>
                            <a:schemeClr val="dk1"/>
                          </a:solidFill>
                        </a:rPr>
                        <a:t> règle 3σ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sans outliers (4749)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0.6246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12.88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19.24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2 : Analyse et évaluation des retards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des retards à partir du dataset des locations (1)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56200" y="769375"/>
            <a:ext cx="85113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767 locations A en retard avec une location suivante B connue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182 d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ont ayant causé un problème à B (delay_A &gt;= B_time_delta) soit 23.7%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1" title="06_retards_connect_vs_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5" y="1607550"/>
            <a:ext cx="6333527" cy="316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7903250" y="2631900"/>
            <a:ext cx="12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6256412" y="1872025"/>
            <a:ext cx="28800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Répartition des types de check-in pour ces 182 locations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72.5% en mobile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○"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27.5% en connect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des retards à partir du dataset des locations (2)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662375" y="859603"/>
            <a:ext cx="34737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retards connect plus courts</a:t>
            </a: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et plus concentrés (écart-type faible)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retards mobile avec moyenne et une variance nettement plus élevées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médianes proches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majorité des conflits &lt;1h, mais la "queue" de distribution mobile est plus longue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2" title="09_retards_percentiles_delai_optim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0" y="722525"/>
            <a:ext cx="5662976" cy="283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165438" y="3797479"/>
            <a:ext cx="8707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Cela justifie de définir un délai minimum différencié selon le type de check-in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des retards à partir du dataset des locations (2)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5662375" y="859603"/>
            <a:ext cx="34737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retards connect plus courts et plus concentrés (écart-type faible)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retards mobile avec moyenne et une variance nettement plus élevées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médianes proches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b="1" lang="f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majorité des conflits &lt;1h, mais la "queue" de distribution mobile est plus longue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3" title="09_retards_percentiles_delai_optim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0" y="722525"/>
            <a:ext cx="5662976" cy="283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165438" y="3797479"/>
            <a:ext cx="8707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Cela justifie de définir un délai minimum différencié selon le type de check-in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2 : Automatisation et Industrialisation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5" title="architecture_getaround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9122" y="52650"/>
            <a:ext cx="5077624" cy="50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112796" y="496303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du pipeline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Architecture du pipeline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28625" y="902375"/>
            <a:ext cx="8535000" cy="3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pour calculer un CA plus réaliste (au lieu d’utiliser la moyenne du prix de location) -&gt; création d’un fichier d’association entre le car_id des locations et l’idx du véhicule du fichier pricing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prédiction du prix de chaque véhicule monté en cache au chargement du dashboard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data analyse du retard montées en cache également dans le dashboard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Démonstration des déploiements (Hugging Face et Render)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571500" y="924925"/>
            <a:ext cx="80913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S</a:t>
            </a:r>
            <a:r>
              <a:rPr lang="fr" sz="1800">
                <a:solidFill>
                  <a:schemeClr val="dk2"/>
                </a:solidFill>
              </a:rPr>
              <a:t>ur Hugging Face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fr" sz="1800">
                <a:solidFill>
                  <a:schemeClr val="dk2"/>
                </a:solidFill>
              </a:rPr>
              <a:t>serveur MLFlow 3.7.</a:t>
            </a:r>
            <a:br>
              <a:rPr lang="fr" sz="1800">
                <a:solidFill>
                  <a:schemeClr val="dk2"/>
                </a:solidFill>
              </a:rPr>
            </a:br>
            <a:r>
              <a:rPr lang="fr" sz="1800" u="sng">
                <a:solidFill>
                  <a:schemeClr val="hlink"/>
                </a:solidFill>
                <a:hlinkClick r:id="rId3"/>
              </a:rPr>
              <a:t>https://gviel-mlflow37.hf.space/#/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Sur Render 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fr" sz="1800">
                <a:solidFill>
                  <a:schemeClr val="dk2"/>
                </a:solidFill>
              </a:rPr>
              <a:t>API predict (documentation swagger)</a:t>
            </a:r>
            <a:br>
              <a:rPr lang="fr" sz="1800">
                <a:solidFill>
                  <a:schemeClr val="dk2"/>
                </a:solidFill>
              </a:rPr>
            </a:br>
            <a:r>
              <a:rPr lang="fr" sz="1800" u="sng">
                <a:solidFill>
                  <a:schemeClr val="hlink"/>
                </a:solidFill>
                <a:hlinkClick r:id="rId4"/>
              </a:rPr>
              <a:t>https://getaround-api-hmuc.onrender.com/docs/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fr" sz="1800">
                <a:solidFill>
                  <a:schemeClr val="dk2"/>
                </a:solidFill>
              </a:rPr>
              <a:t>Dashboard Streamlit</a:t>
            </a:r>
            <a:br>
              <a:rPr lang="fr" sz="1800">
                <a:solidFill>
                  <a:schemeClr val="dk2"/>
                </a:solidFill>
              </a:rPr>
            </a:br>
            <a:r>
              <a:rPr lang="fr" sz="1800" u="sng">
                <a:solidFill>
                  <a:schemeClr val="hlink"/>
                </a:solidFill>
                <a:hlinkClick r:id="rId5"/>
              </a:rPr>
              <a:t>https://getaround-dashboard.onrender.com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00"/>
                </a:solidFill>
              </a:rPr>
              <a:t>NB : Render plan gratuit =&gt; cold start après 15 min d'inactivité (~30–60 s de rechargement du modèle depuis S3)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302850" y="1990425"/>
            <a:ext cx="84546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Conclusions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 4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4 -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1022675" y="1082850"/>
            <a:ext cx="73167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Sur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/>
        </p:nvSpPr>
        <p:spPr>
          <a:xfrm>
            <a:off x="291625" y="2023850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Questions ?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30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0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